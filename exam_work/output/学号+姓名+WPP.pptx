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2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414" r:id="rId3"/>
    <p:sldId id="458" r:id="rId4"/>
    <p:sldId id="459" r:id="rId5"/>
    <p:sldId id="416" r:id="rId6"/>
    <p:sldId id="443" r:id="rId7"/>
    <p:sldId id="423" r:id="rId8"/>
    <p:sldId id="444" r:id="rId9"/>
    <p:sldId id="425" r:id="rId10"/>
    <p:sldId id="445" r:id="rId11"/>
    <p:sldId id="429" r:id="rId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42" userDrawn="1">
          <p15:clr>
            <a:srgbClr val="A4A3A4"/>
          </p15:clr>
        </p15:guide>
        <p15:guide id="2" pos="383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F8C0A5"/>
    <a:srgbClr val="C83D1B"/>
    <a:srgbClr val="E7E7E7"/>
    <a:srgbClr val="EEC2A9"/>
    <a:srgbClr val="B7472A"/>
    <a:srgbClr val="D9D9D9"/>
    <a:srgbClr val="DCDCDC"/>
    <a:srgbClr val="F0F0F0"/>
    <a:srgbClr val="E6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>
        <p:guide orient="horz" pos="2242"/>
        <p:guide pos="383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notesMaster" Target="notesMasters/notesMaster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tags" Target="../tags/tag9.xml"/><Relationship Id="rId7" Type="http://schemas.openxmlformats.org/officeDocument/2006/relationships/tags" Target="../tags/tag8.xml"/><Relationship Id="rId6" Type="http://schemas.openxmlformats.org/officeDocument/2006/relationships/tags" Target="../tags/tag7.xml"/><Relationship Id="rId5" Type="http://schemas.openxmlformats.org/officeDocument/2006/relationships/tags" Target="../tags/tag6.xml"/><Relationship Id="rId4" Type="http://schemas.openxmlformats.org/officeDocument/2006/relationships/image" Target="../media/image2.svg"/><Relationship Id="rId3" Type="http://schemas.openxmlformats.org/officeDocument/2006/relationships/image" Target="../media/image1.png"/><Relationship Id="rId2" Type="http://schemas.openxmlformats.org/officeDocument/2006/relationships/slide" Target="../slides/slide1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5" Type="http://schemas.openxmlformats.org/officeDocument/2006/relationships/tags" Target="../tags/tag13.xml"/><Relationship Id="rId4" Type="http://schemas.openxmlformats.org/officeDocument/2006/relationships/tags" Target="../tags/tag12.xml"/><Relationship Id="rId3" Type="http://schemas.openxmlformats.org/officeDocument/2006/relationships/tags" Target="../tags/tag11.xml"/><Relationship Id="rId2" Type="http://schemas.openxmlformats.org/officeDocument/2006/relationships/tags" Target="../tags/tag10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4" Type="http://schemas.openxmlformats.org/officeDocument/2006/relationships/tags" Target="../tags/tag16.xml"/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 i="0" spc="30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 userDrawn="1"/>
        </p:nvGrpSpPr>
        <p:grpSpPr>
          <a:xfrm>
            <a:off x="-635" y="3103880"/>
            <a:ext cx="12192000" cy="2080260"/>
            <a:chOff x="-1" y="4888"/>
            <a:chExt cx="19200" cy="3276"/>
          </a:xfrm>
        </p:grpSpPr>
        <p:sp>
          <p:nvSpPr>
            <p:cNvPr id="16" name="矩形1"/>
            <p:cNvSpPr/>
            <p:nvPr userDrawn="1"/>
          </p:nvSpPr>
          <p:spPr bwMode="auto">
            <a:xfrm>
              <a:off x="-1" y="4888"/>
              <a:ext cx="19201" cy="3276"/>
            </a:xfrm>
            <a:prstGeom prst="rect">
              <a:avLst/>
            </a:prstGeom>
            <a:solidFill>
              <a:srgbClr val="EEC2A9"/>
            </a:solidFill>
            <a:ln w="127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p>
              <a:pPr algn="ctr">
                <a:lnSpc>
                  <a:spcPct val="130000"/>
                </a:lnSpc>
              </a:pPr>
              <a:endParaRPr lang="en-US" altLang="zh-CN" sz="1400" dirty="0"/>
            </a:p>
          </p:txBody>
        </p:sp>
        <p:pic>
          <p:nvPicPr>
            <p:cNvPr id="3" name="图片 2" descr="resource">
              <a:hlinkClick r:id="rId2" action="ppaction://hlinksldjump"/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5821" y="6060"/>
              <a:ext cx="934" cy="934"/>
            </a:xfrm>
            <a:prstGeom prst="rect">
              <a:avLst/>
            </a:prstGeom>
          </p:spPr>
        </p:pic>
      </p:grp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标题占位符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389255" y="3791268"/>
            <a:ext cx="9287510" cy="705485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>
            <a:lvl1pPr algn="r">
              <a:defRPr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标题占位符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tags" Target="../tags/tag20.xml"/><Relationship Id="rId8" Type="http://schemas.openxmlformats.org/officeDocument/2006/relationships/tags" Target="../tags/tag19.xml"/><Relationship Id="rId7" Type="http://schemas.openxmlformats.org/officeDocument/2006/relationships/tags" Target="../tags/tag18.xml"/><Relationship Id="rId6" Type="http://schemas.openxmlformats.org/officeDocument/2006/relationships/tags" Target="../tags/tag17.xml"/><Relationship Id="rId5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image" Target="../media/image4.png"/><Relationship Id="rId10" Type="http://schemas.openxmlformats.org/officeDocument/2006/relationships/tags" Target="../tags/tag2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5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7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8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9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0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7" name="光盘行动Logo" descr="光盘行动logo"/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7747000" y="101600"/>
            <a:ext cx="889000" cy="8255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24.xml"/><Relationship Id="rId2" Type="http://schemas.openxmlformats.org/officeDocument/2006/relationships/tags" Target="../tags/tag23.xml"/><Relationship Id="rId1" Type="http://schemas.openxmlformats.org/officeDocument/2006/relationships/tags" Target="../tags/tag22.xml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3.xml"/><Relationship Id="rId5" Type="http://schemas.openxmlformats.org/officeDocument/2006/relationships/tags" Target="../tags/tag25.xml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2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2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2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tags" Target="../tags/tag29.xml"/><Relationship Id="rId1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3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3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3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tags" Target="../tags/tag33.xml"/><Relationship Id="rId1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1"/>
            </p:custDataLst>
          </p:nvPr>
        </p:nvSpPr>
        <p:spPr/>
        <p:txBody>
          <a:bodyPr/>
          <a:p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珍惜粮食  厉行节约 </a:t>
            </a:r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—— 校公益宣传部</a:t>
            </a:r>
            <a:endParaRPr lang="en-US" altLang="zh-CN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/>
        <p:txBody>
          <a:bodyPr/>
          <a:p>
            <a:r>
              <a:rPr lang="zh-CN" altLang="zh-CN" sz="2000">
                <a:latin typeface="黑体" panose="02010609060101010101" charset="-122"/>
                <a:ea typeface="黑体" panose="02010609060101010101" charset="-122"/>
              </a:rPr>
              <a:t>光盘行动，拒绝浪费</a:t>
            </a:r>
            <a:endParaRPr lang="zh-CN" altLang="zh-CN" sz="2000">
              <a:latin typeface="黑体" panose="02010609060101010101" charset="-122"/>
              <a:ea typeface="黑体" panose="02010609060101010101" charset="-122"/>
            </a:endParaRPr>
          </a:p>
        </p:txBody>
      </p:sp>
    </p:spTree>
    <p:custDataLst>
      <p:tags r:id="rId3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solidFill>
                  <a:srgbClr val="F8DCA5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目 录</a:t>
            </a:r>
            <a:endParaRPr lang="zh-CN" altLang="en-US">
              <a:solidFill>
                <a:srgbClr val="F8DCA5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6" name="矩形 1"/>
          <p:cNvSpPr/>
          <p:nvPr/>
        </p:nvSpPr>
        <p:spPr bwMode="auto">
          <a:xfrm>
            <a:off x="-635" y="1906270"/>
            <a:ext cx="12192635" cy="3868420"/>
          </a:xfrm>
          <a:prstGeom prst="rect">
            <a:avLst/>
          </a:prstGeom>
          <a:solidFill>
            <a:srgbClr val="EEC2A9"/>
          </a:solidFill>
          <a:ln w="127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>
              <a:lnSpc>
                <a:spcPct val="130000"/>
              </a:lnSpc>
            </a:pPr>
            <a:endParaRPr lang="en-US" altLang="zh-CN" sz="1400" dirty="0"/>
          </a:p>
        </p:txBody>
      </p:sp>
      <p:pic>
        <p:nvPicPr>
          <p:cNvPr id="28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0215" y="2491740"/>
            <a:ext cx="2811780" cy="2697480"/>
          </a:xfrm>
          <a:prstGeom prst="rect">
            <a:avLst/>
          </a:prstGeom>
        </p:spPr>
      </p:pic>
      <p:pic>
        <p:nvPicPr>
          <p:cNvPr id="34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6600" y="2491740"/>
            <a:ext cx="2811780" cy="2697480"/>
          </a:xfrm>
          <a:prstGeom prst="rect">
            <a:avLst/>
          </a:prstGeom>
        </p:spPr>
      </p:pic>
      <p:pic>
        <p:nvPicPr>
          <p:cNvPr id="35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2985" y="2491740"/>
            <a:ext cx="2811780" cy="2697480"/>
          </a:xfrm>
          <a:prstGeom prst="rect">
            <a:avLst/>
          </a:prstGeom>
        </p:spPr>
      </p:pic>
      <p:pic>
        <p:nvPicPr>
          <p:cNvPr id="36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29370" y="2491740"/>
            <a:ext cx="2811780" cy="2697480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0" y="3791585"/>
            <a:ext cx="9287510" cy="705485"/>
          </a:xfrm>
        </p:spPr>
        <p:txBody>
          <a:bodyPr/>
          <a:p>
            <a:r>
              <a:rPr lang="zh-CN" altLang="en-US">
                <a:latin typeface="黑体" panose="02010609060101010101" charset="-122"/>
                <a:ea typeface="黑体" panose="02010609060101010101" charset="-122"/>
              </a:rPr>
              <a:t>居安思危</a:t>
            </a:r>
            <a:endParaRPr lang="zh-CN" altLang="en-US">
              <a:latin typeface="黑体" panose="02010609060101010101" charset="-122"/>
              <a:ea typeface="黑体" panose="02010609060101010101" charset="-122"/>
            </a:endParaRPr>
          </a:p>
        </p:txBody>
      </p:sp>
    </p:spTree>
    <p:custDataLst>
      <p:tags r:id="rId1"/>
    </p:custData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solidFill>
                  <a:srgbClr val="F8DCA5"/>
                </a:solidFill>
                <a:latin typeface="黑体" panose="02010609060101010101" charset="-122"/>
                <a:ea typeface="黑体" panose="02010609060101010101" charset="-122"/>
              </a:rPr>
              <a:t>居安思危</a:t>
            </a:r>
            <a:endParaRPr lang="zh-CN" altLang="en-US">
              <a:solidFill>
                <a:srgbClr val="F8DCA5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7" name="文本框 1"/>
          <p:cNvSpPr txBox="1"/>
          <p:nvPr/>
        </p:nvSpPr>
        <p:spPr>
          <a:xfrm>
            <a:off x="2428875" y="1313815"/>
            <a:ext cx="5400000" cy="29895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285750" indent="-285750" algn="just" fontAlgn="auto">
              <a:lnSpc>
                <a:spcPct val="150000"/>
              </a:lnSpc>
              <a:spcAft>
                <a:spcPts val="1000"/>
              </a:spcAft>
              <a:buClrTx/>
              <a:buSzTx/>
              <a:buFont typeface="Symbol" panose="05050102010706020507" charset="0"/>
              <a:buChar char="•"/>
            </a:pPr>
            <a:r>
              <a:rPr lang="zh-CN" altLang="en-US">
                <a:solidFill>
                  <a:srgbClr val="F8C0A5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一粥一饭当思来之不易。厉行节约，是中华民族的传统美德。七年前，习总书记就做出重要指示，要求厉行节约，反对浪费。互联网上也曾倡导人们珍惜粮食，加入“光盘行动”。</a:t>
            </a:r>
            <a:endParaRPr lang="zh-CN" altLang="en-US">
              <a:solidFill>
                <a:srgbClr val="F8C0A5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algn="just" fontAlgn="auto">
              <a:lnSpc>
                <a:spcPct val="100000"/>
              </a:lnSpc>
              <a:buClrTx/>
              <a:buSzTx/>
              <a:buFontTx/>
            </a:pPr>
            <a:r>
              <a:rPr lang="zh-CN" altLang="en-US">
                <a:solidFill>
                  <a:srgbClr val="F8C0A5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然而多年过去了，餐饮浪费现象依然触目惊心、令人痛心，“历览前贤国与家，成由勤俭败由奢”。居安思危，勤俭节约一直以来就是中华民族奉行的传统美德。</a:t>
            </a:r>
            <a:endParaRPr lang="zh-CN" altLang="en-US">
              <a:solidFill>
                <a:srgbClr val="F8C0A5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</p:spTree>
    <p:custDataLst>
      <p:tags r:id="rId1"/>
    </p:custData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0" y="3791585"/>
            <a:ext cx="9287510" cy="705485"/>
          </a:xfrm>
        </p:spPr>
        <p:txBody>
          <a:bodyPr/>
          <a:p>
            <a:r>
              <a:rPr lang="zh-CN" altLang="en-US">
                <a:latin typeface="黑体" panose="02010609060101010101" charset="-122"/>
                <a:ea typeface="黑体" panose="02010609060101010101" charset="-122"/>
              </a:rPr>
              <a:t>粮食背后</a:t>
            </a:r>
            <a:endParaRPr lang="zh-CN" altLang="en-US">
              <a:latin typeface="黑体" panose="02010609060101010101" charset="-122"/>
              <a:ea typeface="黑体" panose="02010609060101010101" charset="-122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solidFill>
                  <a:srgbClr val="F8DCA5"/>
                </a:solidFill>
                <a:latin typeface="黑体" panose="02010609060101010101" charset="-122"/>
                <a:ea typeface="黑体" panose="02010609060101010101" charset="-122"/>
              </a:rPr>
              <a:t>粮食背后</a:t>
            </a:r>
            <a:endParaRPr lang="zh-CN" altLang="en-US">
              <a:solidFill>
                <a:srgbClr val="F8DCA5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4" name="矩形 1"/>
          <p:cNvSpPr/>
          <p:nvPr/>
        </p:nvSpPr>
        <p:spPr>
          <a:xfrm>
            <a:off x="744220" y="4340860"/>
            <a:ext cx="2210435" cy="1137285"/>
          </a:xfrm>
          <a:prstGeom prst="rect">
            <a:avLst/>
          </a:prstGeom>
          <a:solidFill>
            <a:srgbClr val="F8C0A5"/>
          </a:solidFill>
          <a:ln>
            <a:solidFill>
              <a:srgbClr val="F8C0A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  <a:latin typeface="楷体" panose="02010609060101010101" charset="-122"/>
                <a:ea typeface="楷体" panose="02010609060101010101" charset="-122"/>
                <a:sym typeface="+mn-ea"/>
              </a:rPr>
              <a:t>近期各国收紧粮食出口的消息</a:t>
            </a:r>
            <a:endParaRPr lang="zh-CN" altLang="en-US">
              <a:solidFill>
                <a:schemeClr val="tx1"/>
              </a:solidFill>
              <a:latin typeface="楷体" panose="02010609060101010101" charset="-122"/>
              <a:ea typeface="楷体" panose="02010609060101010101" charset="-122"/>
              <a:sym typeface="+mn-ea"/>
            </a:endParaRPr>
          </a:p>
        </p:txBody>
      </p:sp>
      <p:pic>
        <p:nvPicPr>
          <p:cNvPr id="6" name="图片 1" descr="碗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330" y="2423795"/>
            <a:ext cx="2482215" cy="1440180"/>
          </a:xfrm>
          <a:prstGeom prst="rect">
            <a:avLst/>
          </a:prstGeom>
        </p:spPr>
      </p:pic>
      <p:sp>
        <p:nvSpPr>
          <p:cNvPr id="5" name="文本框 1"/>
          <p:cNvSpPr txBox="1"/>
          <p:nvPr/>
        </p:nvSpPr>
        <p:spPr>
          <a:xfrm>
            <a:off x="4725035" y="2063115"/>
            <a:ext cx="6170295" cy="34150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>
                <a:solidFill>
                  <a:srgbClr val="F8C0A5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世界第三大稻米出口国，越南紧随其后，宣布自3月24日起，暂停大米及大米产品出口；全球最大的小麦出口国之一，哈萨克斯坦也宣布禁止出口小麦、土豆等11种农产品</a:t>
            </a:r>
            <a:endParaRPr lang="zh-CN" altLang="en-US">
              <a:solidFill>
                <a:srgbClr val="F8C0A5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endParaRPr lang="zh-CN" altLang="en-US">
              <a:solidFill>
                <a:srgbClr val="F8C0A5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r>
              <a:rPr lang="zh-CN" altLang="en-US">
                <a:solidFill>
                  <a:srgbClr val="F8C0A5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据不完全统计，当前全球范围内已经有8个国家宣布了粮食出口限制措施，其中包括俄罗斯、埃及、越南、印度、哈萨克斯坦、塞尔维亚、泰国、柬埔寨。</a:t>
            </a:r>
            <a:endParaRPr lang="zh-CN" altLang="en-US">
              <a:solidFill>
                <a:srgbClr val="F8C0A5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endParaRPr lang="zh-CN" altLang="en-US">
              <a:solidFill>
                <a:srgbClr val="F8C0A5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r>
              <a:rPr lang="zh-CN" altLang="en-US">
                <a:solidFill>
                  <a:srgbClr val="F8C0A5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联合国粮食及农业组织近日发出警告称，新冠肺炎疫情可能会导致全球出现新一轮粮食危机。该组织预计，如果不及时采取有效的干预措施，粮食供应链在今年的4月到5月将会出现被扰乱的情况。</a:t>
            </a:r>
            <a:endParaRPr lang="zh-CN" altLang="en-US">
              <a:solidFill>
                <a:srgbClr val="F8C0A5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</p:spTree>
    <p:custDataLst>
      <p:tags r:id="rId2"/>
    </p:custData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0" y="3791585"/>
            <a:ext cx="9287510" cy="705485"/>
          </a:xfrm>
        </p:spPr>
        <p:txBody>
          <a:bodyPr/>
          <a:p>
            <a:r>
              <a:rPr lang="zh-CN" altLang="en-US">
                <a:latin typeface="黑体" panose="02010609060101010101" charset="-122"/>
                <a:ea typeface="黑体" panose="02010609060101010101" charset="-122"/>
              </a:rPr>
              <a:t>珍惜粮食</a:t>
            </a:r>
            <a:endParaRPr lang="zh-CN" altLang="en-US">
              <a:latin typeface="黑体" panose="02010609060101010101" charset="-122"/>
              <a:ea typeface="黑体" panose="02010609060101010101" charset="-122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solidFill>
                  <a:srgbClr val="F8DCA5"/>
                </a:solidFill>
                <a:latin typeface="黑体" panose="02010609060101010101" charset="-122"/>
                <a:ea typeface="黑体" panose="02010609060101010101" charset="-122"/>
              </a:rPr>
              <a:t>珍惜粮食</a:t>
            </a:r>
            <a:endParaRPr lang="zh-CN" altLang="en-US">
              <a:solidFill>
                <a:srgbClr val="F8DCA5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4" name="文本框 1"/>
          <p:cNvSpPr txBox="1"/>
          <p:nvPr/>
        </p:nvSpPr>
        <p:spPr>
          <a:xfrm>
            <a:off x="2117725" y="1903730"/>
            <a:ext cx="8360410" cy="23069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just">
              <a:lnSpc>
                <a:spcPct val="100000"/>
              </a:lnSpc>
              <a:buClrTx/>
              <a:buSzTx/>
              <a:buFontTx/>
            </a:pPr>
            <a:r>
              <a:rPr lang="zh-CN" altLang="en-US" sz="1800">
                <a:solidFill>
                  <a:srgbClr val="F8C0A5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从古至今，中华民族都以勤俭节约为美德。但也有消费者在聚餐品尝美食的时候，仿佛菜品越高档、越丰盛，就显得越有面子、越有排场。</a:t>
            </a:r>
            <a:endParaRPr lang="zh-CN" altLang="en-US" sz="1800">
              <a:solidFill>
                <a:srgbClr val="F8C0A5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algn="just">
              <a:lnSpc>
                <a:spcPct val="100000"/>
              </a:lnSpc>
              <a:buClrTx/>
              <a:buSzTx/>
              <a:buFontTx/>
            </a:pPr>
            <a:endParaRPr lang="zh-CN" altLang="en-US" sz="1800">
              <a:solidFill>
                <a:srgbClr val="F8C0A5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algn="just">
              <a:lnSpc>
                <a:spcPct val="100000"/>
              </a:lnSpc>
              <a:buClrTx/>
              <a:buSzTx/>
              <a:buFontTx/>
            </a:pPr>
            <a:r>
              <a:rPr lang="zh-CN" altLang="en-US" sz="1800">
                <a:solidFill>
                  <a:srgbClr val="F8C0A5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在这种不良风气的影响下，餐桌浪费严重，大量的食物从厨房出来，消费者没吃上两口，就直接进入了泔水桶。</a:t>
            </a:r>
            <a:endParaRPr lang="zh-CN" altLang="en-US" sz="1800">
              <a:solidFill>
                <a:srgbClr val="F8C0A5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algn="just">
              <a:lnSpc>
                <a:spcPct val="100000"/>
              </a:lnSpc>
              <a:buClrTx/>
              <a:buSzTx/>
              <a:buFontTx/>
            </a:pPr>
            <a:endParaRPr lang="zh-CN" altLang="en-US" sz="1800">
              <a:solidFill>
                <a:srgbClr val="F8C0A5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algn="just">
              <a:lnSpc>
                <a:spcPct val="100000"/>
              </a:lnSpc>
              <a:buClrTx/>
              <a:buSzTx/>
              <a:buFontTx/>
            </a:pPr>
            <a:r>
              <a:rPr lang="zh-CN" altLang="en-US" sz="1800">
                <a:solidFill>
                  <a:srgbClr val="F8C0A5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每一个人都应养成节约的好习惯，无论何种形式就餐，都应只取所需，避免“眼大肚小”。</a:t>
            </a:r>
            <a:endParaRPr lang="zh-CN" altLang="en-US" sz="1800">
              <a:solidFill>
                <a:srgbClr val="F8C0A5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</p:spTree>
    <p:custDataLst>
      <p:tags r:id="rId1"/>
    </p:custData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0" y="3791585"/>
            <a:ext cx="9287510" cy="705485"/>
          </a:xfrm>
        </p:spPr>
        <p:txBody>
          <a:bodyPr/>
          <a:p>
            <a:r>
              <a:rPr lang="zh-CN" altLang="en-US">
                <a:latin typeface="黑体" panose="02010609060101010101" charset="-122"/>
                <a:ea typeface="黑体" panose="02010609060101010101" charset="-122"/>
              </a:rPr>
              <a:t>反对浪费</a:t>
            </a:r>
            <a:endParaRPr lang="zh-CN" altLang="en-US">
              <a:latin typeface="黑体" panose="02010609060101010101" charset="-122"/>
              <a:ea typeface="黑体" panose="02010609060101010101" charset="-122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solidFill>
                  <a:srgbClr val="F8DCA5"/>
                </a:solidFill>
                <a:latin typeface="黑体" panose="02010609060101010101" charset="-122"/>
                <a:ea typeface="黑体" panose="02010609060101010101" charset="-122"/>
              </a:rPr>
              <a:t>反对浪费</a:t>
            </a:r>
            <a:endParaRPr lang="zh-CN" altLang="en-US">
              <a:solidFill>
                <a:srgbClr val="F8DCA5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4" name="矩形 1"/>
          <p:cNvSpPr/>
          <p:nvPr/>
        </p:nvSpPr>
        <p:spPr>
          <a:xfrm>
            <a:off x="5012055" y="3234670"/>
            <a:ext cx="5521960" cy="1846580"/>
          </a:xfrm>
          <a:prstGeom prst="rect">
            <a:avLst/>
          </a:prstGeom>
          <a:solidFill>
            <a:srgbClr val="F8C0A5"/>
          </a:solidFill>
          <a:ln>
            <a:solidFill>
              <a:srgbClr val="C83D1B"/>
            </a:solidFill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0" tIns="0" rIns="0" bIns="0" rtlCol="0" anchor="ctr">
            <a:spAutoFit/>
          </a:bodyPr>
          <a:p>
            <a:pPr algn="just">
              <a:lnSpc>
                <a:spcPct val="150000"/>
              </a:lnSpc>
            </a:pPr>
            <a:r>
              <a:rPr lang="zh-CN" altLang="en-US" sz="2000">
                <a:solidFill>
                  <a:schemeClr val="bg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养成良好的消费意识，拒绝浪费，从我做起。从饮食科学的角度来说，传统的“吃饱吃好”不等于健康的饮食，真正的健康饮食应该有所节制，顾客在饭桌上吃不完的饭菜，应打包带走。</a:t>
            </a:r>
            <a:endParaRPr lang="zh-CN" altLang="en-US" sz="2000">
              <a:solidFill>
                <a:schemeClr val="bg1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+mn-ea"/>
            </a:endParaRPr>
          </a:p>
        </p:txBody>
      </p:sp>
      <p:pic>
        <p:nvPicPr>
          <p:cNvPr id="5" name="图片 1" descr="食物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9350" y="1457960"/>
            <a:ext cx="5400000" cy="540000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  <p:transition/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输入您的封面副标题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176_1*b*1"/>
  <p:tag name="KSO_WM_TEMPLATE_CATEGORY" val="custom"/>
  <p:tag name="KSO_WM_TEMPLATE_INDEX" val="20205176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ISCONTENTSTITLE" val="0"/>
  <p:tag name="KSO_WM_UNIT_ISNUMDGMTITLE" val="0"/>
  <p:tag name="KSO_WM_UNIT_PRESET_TEXT" val="空白演示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176_1*a*1"/>
  <p:tag name="KSO_WM_TEMPLATE_CATEGORY" val="custom"/>
  <p:tag name="KSO_WM_TEMPLATE_INDEX" val="20205176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25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26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27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28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29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30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31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32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33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691</Words>
  <Application>WPS 演示</Application>
  <PresentationFormat>宽屏</PresentationFormat>
  <Paragraphs>41</Paragraphs>
  <Slides>10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9" baseType="lpstr">
      <vt:lpstr>Arial</vt:lpstr>
      <vt:lpstr>宋体</vt:lpstr>
      <vt:lpstr>Wingdings</vt:lpstr>
      <vt:lpstr>微软雅黑</vt:lpstr>
      <vt:lpstr>Wingdings</vt:lpstr>
      <vt:lpstr>楷体</vt:lpstr>
      <vt:lpstr>黑体</vt:lpstr>
      <vt:lpstr>Symbol</vt:lpstr>
      <vt:lpstr>Office 主题​​</vt:lpstr>
      <vt:lpstr>光盘行动，拒绝浪费</vt:lpstr>
      <vt:lpstr>目 录</vt:lpstr>
      <vt:lpstr>居安思危</vt:lpstr>
      <vt:lpstr>居安思危</vt:lpstr>
      <vt:lpstr>粮食背后</vt:lpstr>
      <vt:lpstr>粮食背后</vt:lpstr>
      <vt:lpstr>珍惜粮食</vt:lpstr>
      <vt:lpstr>珍惜粮食</vt:lpstr>
      <vt:lpstr>反对浪费</vt:lpstr>
      <vt:lpstr>反对浪费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加菲猫</cp:lastModifiedBy>
  <cp:revision>89</cp:revision>
  <dcterms:created xsi:type="dcterms:W3CDTF">2020-11-24T15:02:00Z</dcterms:created>
  <dcterms:modified xsi:type="dcterms:W3CDTF">2026-06-16T11:30:26Z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131135A75BC340FC92B869069168B815_13</vt:lpwstr>
  </property>
</Properties>
</file>